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74" d="100"/>
          <a:sy n="74" d="100"/>
        </p:scale>
        <p:origin x="72" y="1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Quarterly sales</c:v>
          </c:tx>
          <c:spPr>
            <a:solidFill>
              <a:srgbClr val="007F7B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rgbClr val="EF6A5B"/>
              </a:solidFill>
            </c:spPr>
            <c:extLst>
              <c:ext xmlns:c16="http://schemas.microsoft.com/office/drawing/2014/chart" uri="{C3380CC4-5D6E-409C-BE32-E72D297353CC}">
                <c16:uniqueId val="{00000001-D914-4F29-B98C-FAB5411962EC}"/>
              </c:ext>
            </c:extLst>
          </c:dPt>
          <c:dPt>
            <c:idx val="10"/>
            <c:invertIfNegative val="1"/>
            <c:bubble3D val="0"/>
            <c:spPr>
              <a:solidFill>
                <a:srgbClr val="D9A441"/>
              </a:solidFill>
            </c:spPr>
            <c:extLst>
              <c:ext xmlns:c16="http://schemas.microsoft.com/office/drawing/2014/chart" uri="{C3380CC4-5D6E-409C-BE32-E72D297353CC}">
                <c16:uniqueId val="{00000003-D914-4F29-B98C-FAB5411962EC}"/>
              </c:ext>
            </c:extLst>
          </c:dPt>
          <c:cat>
            <c:strLit>
              <c:ptCount val="11"/>
              <c:pt idx="0">
                <c:v>14 Q1</c:v>
              </c:pt>
              <c:pt idx="1">
                <c:v>14 Q2</c:v>
              </c:pt>
              <c:pt idx="2">
                <c:v>14 Q3</c:v>
              </c:pt>
              <c:pt idx="3">
                <c:v>14 Q4</c:v>
              </c:pt>
              <c:pt idx="4">
                <c:v>15 Q1</c:v>
              </c:pt>
              <c:pt idx="5">
                <c:v>15 Q2</c:v>
              </c:pt>
              <c:pt idx="6">
                <c:v>15 Q3</c:v>
              </c:pt>
              <c:pt idx="7">
                <c:v>15 Q4</c:v>
              </c:pt>
              <c:pt idx="8">
                <c:v>16 Q1</c:v>
              </c:pt>
              <c:pt idx="9">
                <c:v>16 Q2</c:v>
              </c:pt>
              <c:pt idx="10">
                <c:v>16 Q3</c:v>
              </c:pt>
            </c:strLit>
          </c:cat>
          <c:val>
            <c:numLit>
              <c:formatCode>\R0,,"m"</c:formatCode>
              <c:ptCount val="11"/>
              <c:pt idx="0">
                <c:v>18068184.840289712</c:v>
              </c:pt>
              <c:pt idx="1">
                <c:v>20587593.074184574</c:v>
              </c:pt>
              <c:pt idx="2">
                <c:v>22587541.774126932</c:v>
              </c:pt>
              <c:pt idx="3">
                <c:v>14171656.023099352</c:v>
              </c:pt>
              <c:pt idx="4">
                <c:v>13867049.553730953</c:v>
              </c:pt>
              <c:pt idx="5">
                <c:v>19680469.532279406</c:v>
              </c:pt>
              <c:pt idx="6">
                <c:v>12282260.660735795</c:v>
              </c:pt>
              <c:pt idx="7">
                <c:v>18187813.640477084</c:v>
              </c:pt>
              <c:pt idx="8">
                <c:v>13246828.823171472</c:v>
              </c:pt>
              <c:pt idx="9">
                <c:v>18598246.969339557</c:v>
              </c:pt>
              <c:pt idx="10">
                <c:v>10457208.63829284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914-4F29-B98C-FAB541196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FDC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00000"/>
        </c:scaling>
        <c:delete val="0"/>
        <c:axPos val="l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\R0,,&quot;m&quot;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8F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7F8F6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Monthly observations</c:v>
          </c:tx>
          <c:spPr>
            <a:ln w="9525">
              <a:solidFill>
                <a:srgbClr val="007F7B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34"/>
              <c:pt idx="0">
                <c:v>32.574305836204601</c:v>
              </c:pt>
              <c:pt idx="1">
                <c:v>33.411249021299831</c:v>
              </c:pt>
              <c:pt idx="2">
                <c:v>32.468262843379236</c:v>
              </c:pt>
              <c:pt idx="3">
                <c:v>32.746591371989972</c:v>
              </c:pt>
              <c:pt idx="4">
                <c:v>33.856117721804779</c:v>
              </c:pt>
              <c:pt idx="5">
                <c:v>32.634158578467876</c:v>
              </c:pt>
              <c:pt idx="6">
                <c:v>32.470285917198318</c:v>
              </c:pt>
              <c:pt idx="7">
                <c:v>33.460456162532253</c:v>
              </c:pt>
              <c:pt idx="8">
                <c:v>32.232069496792427</c:v>
              </c:pt>
              <c:pt idx="9">
                <c:v>32.150199315476002</c:v>
              </c:pt>
              <c:pt idx="10">
                <c:v>34.504209920056383</c:v>
              </c:pt>
              <c:pt idx="11">
                <c:v>38.375262044256942</c:v>
              </c:pt>
              <c:pt idx="12">
                <c:v>39.376905862225719</c:v>
              </c:pt>
              <c:pt idx="13">
                <c:v>40.289857291352831</c:v>
              </c:pt>
              <c:pt idx="14">
                <c:v>38.367043381602009</c:v>
              </c:pt>
              <c:pt idx="15">
                <c:v>38.554455910768354</c:v>
              </c:pt>
              <c:pt idx="16">
                <c:v>38.802318562952628</c:v>
              </c:pt>
              <c:pt idx="17">
                <c:v>37.97697765214776</c:v>
              </c:pt>
              <c:pt idx="18">
                <c:v>39.039898107083275</c:v>
              </c:pt>
              <c:pt idx="19">
                <c:v>38.469585711884093</c:v>
              </c:pt>
              <c:pt idx="20">
                <c:v>36.131354815590591</c:v>
              </c:pt>
              <c:pt idx="21">
                <c:v>34.633667751556885</c:v>
              </c:pt>
              <c:pt idx="22">
                <c:v>35.683488114074187</c:v>
              </c:pt>
              <c:pt idx="23">
                <c:v>35.1763019095742</c:v>
              </c:pt>
              <c:pt idx="24">
                <c:v>36.409440288934213</c:v>
              </c:pt>
              <c:pt idx="25">
                <c:v>35.886388302798053</c:v>
              </c:pt>
              <c:pt idx="26">
                <c:v>36.783835688066731</c:v>
              </c:pt>
              <c:pt idx="27">
                <c:v>39.79046984913257</c:v>
              </c:pt>
              <c:pt idx="28">
                <c:v>34.99293072339448</c:v>
              </c:pt>
              <c:pt idx="29">
                <c:v>35.340413778044869</c:v>
              </c:pt>
              <c:pt idx="30">
                <c:v>34.289609702151736</c:v>
              </c:pt>
              <c:pt idx="31">
                <c:v>36.67639715857144</c:v>
              </c:pt>
              <c:pt idx="32">
                <c:v>35.134236204370588</c:v>
              </c:pt>
              <c:pt idx="33">
                <c:v>36.50068436293683</c:v>
              </c:pt>
            </c:numLit>
          </c:xVal>
          <c:yVal>
            <c:numLit>
              <c:formatCode>#,##0</c:formatCode>
              <c:ptCount val="34"/>
              <c:pt idx="0">
                <c:v>8047.5</c:v>
              </c:pt>
              <c:pt idx="1">
                <c:v>3869.8387096774195</c:v>
              </c:pt>
              <c:pt idx="2">
                <c:v>6358.3928571428569</c:v>
              </c:pt>
              <c:pt idx="3">
                <c:v>8156</c:v>
              </c:pt>
              <c:pt idx="4">
                <c:v>6336.3666666666668</c:v>
              </c:pt>
              <c:pt idx="5">
                <c:v>7606.2258064516127</c:v>
              </c:pt>
              <c:pt idx="6">
                <c:v>6628.5666666666666</c:v>
              </c:pt>
              <c:pt idx="7">
                <c:v>4756.4193548387093</c:v>
              </c:pt>
              <c:pt idx="8">
                <c:v>10018.451612903225</c:v>
              </c:pt>
              <c:pt idx="9">
                <c:v>7924.7333333333336</c:v>
              </c:pt>
              <c:pt idx="10">
                <c:v>5539</c:v>
              </c:pt>
              <c:pt idx="11">
                <c:v>2285.6333333333332</c:v>
              </c:pt>
              <c:pt idx="12">
                <c:v>4600.3870967741932</c:v>
              </c:pt>
              <c:pt idx="13">
                <c:v>2959.3548387096776</c:v>
              </c:pt>
              <c:pt idx="14">
                <c:v>4562.6071428571431</c:v>
              </c:pt>
              <c:pt idx="15">
                <c:v>4408.8064516129034</c:v>
              </c:pt>
              <c:pt idx="16">
                <c:v>5123.3999999999996</c:v>
              </c:pt>
              <c:pt idx="17">
                <c:v>7121.7741935483873</c:v>
              </c:pt>
              <c:pt idx="18">
                <c:v>4552.7</c:v>
              </c:pt>
              <c:pt idx="19">
                <c:v>3083.8709677419356</c:v>
              </c:pt>
              <c:pt idx="20">
                <c:v>3512.8709677419356</c:v>
              </c:pt>
              <c:pt idx="21">
                <c:v>4494.5666666666666</c:v>
              </c:pt>
              <c:pt idx="22">
                <c:v>4365.4193548387093</c:v>
              </c:pt>
              <c:pt idx="23">
                <c:v>6195.6</c:v>
              </c:pt>
              <c:pt idx="24">
                <c:v>6043</c:v>
              </c:pt>
              <c:pt idx="25">
                <c:v>4856.8064516129034</c:v>
              </c:pt>
              <c:pt idx="26">
                <c:v>4585.8620689655172</c:v>
              </c:pt>
              <c:pt idx="27">
                <c:v>2393.0645161290322</c:v>
              </c:pt>
              <c:pt idx="28">
                <c:v>6341.166666666667</c:v>
              </c:pt>
              <c:pt idx="29">
                <c:v>4719.2903225806449</c:v>
              </c:pt>
              <c:pt idx="30">
                <c:v>6582.3</c:v>
              </c:pt>
              <c:pt idx="31">
                <c:v>2924.2903225806454</c:v>
              </c:pt>
              <c:pt idx="32">
                <c:v>3987.7741935483873</c:v>
              </c:pt>
              <c:pt idx="33">
                <c:v>3183.7916666666665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724-4852-86FB-D15862576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0"/>
        </c:scaling>
        <c:delete val="0"/>
        <c:axPos val="l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9DFDC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9DFDC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7F8F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7F8F6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Monthly gross margin</c:v>
          </c:tx>
          <c:spPr>
            <a:solidFill>
              <a:srgbClr val="EF6A5B"/>
            </a:solidFill>
          </c:spPr>
          <c:invertIfNegative val="0"/>
          <c:dPt>
            <c:idx val="1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1-388B-4450-AB2F-684AA6D772DB}"/>
              </c:ext>
            </c:extLst>
          </c:dPt>
          <c:dPt>
            <c:idx val="11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3-388B-4450-AB2F-684AA6D772DB}"/>
              </c:ext>
            </c:extLst>
          </c:dPt>
          <c:dPt>
            <c:idx val="26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5-388B-4450-AB2F-684AA6D772DB}"/>
              </c:ext>
            </c:extLst>
          </c:dPt>
          <c:dPt>
            <c:idx val="27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7-388B-4450-AB2F-684AA6D772DB}"/>
              </c:ext>
            </c:extLst>
          </c:dPt>
          <c:dPt>
            <c:idx val="31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9-388B-4450-AB2F-684AA6D772DB}"/>
              </c:ext>
            </c:extLst>
          </c:dPt>
          <c:dPt>
            <c:idx val="33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B-388B-4450-AB2F-684AA6D772DB}"/>
              </c:ext>
            </c:extLst>
          </c:dPt>
          <c:cat>
            <c:numLit>
              <c:formatCode>General</c:formatCode>
              <c:ptCount val="3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</c:numLit>
          </c:cat>
          <c:val>
            <c:numLit>
              <c:formatCode>0%</c:formatCode>
              <c:ptCount val="34"/>
              <c:pt idx="0">
                <c:v>-2.4380493039944131E-2</c:v>
              </c:pt>
              <c:pt idx="1">
                <c:v>3.1088034678153523E-3</c:v>
              </c:pt>
              <c:pt idx="2">
                <c:v>-2.3006951061081356E-2</c:v>
              </c:pt>
              <c:pt idx="3">
                <c:v>-1.6442606539534846E-2</c:v>
              </c:pt>
              <c:pt idx="4">
                <c:v>-6.8213335154871822E-3</c:v>
              </c:pt>
              <c:pt idx="5">
                <c:v>-4.1889304062888821E-2</c:v>
              </c:pt>
              <c:pt idx="6">
                <c:v>-2.9255328946309413E-2</c:v>
              </c:pt>
              <c:pt idx="7">
                <c:v>-1.4428105760186686E-2</c:v>
              </c:pt>
              <c:pt idx="8">
                <c:v>-5.1352118989839914E-2</c:v>
              </c:pt>
              <c:pt idx="9">
                <c:v>-7.1971054986953512E-2</c:v>
              </c:pt>
              <c:pt idx="10">
                <c:v>-1.9204053419722582E-2</c:v>
              </c:pt>
              <c:pt idx="11">
                <c:v>4.3410554468196756E-2</c:v>
              </c:pt>
              <c:pt idx="12">
                <c:v>-5.6837321667892349E-2</c:v>
              </c:pt>
              <c:pt idx="13">
                <c:v>-4.1953713231710758E-2</c:v>
              </c:pt>
              <c:pt idx="14">
                <c:v>-5.1056028753481517E-2</c:v>
              </c:pt>
              <c:pt idx="15">
                <c:v>-6.2678958464622431E-2</c:v>
              </c:pt>
              <c:pt idx="16">
                <c:v>-5.4104631625758022E-2</c:v>
              </c:pt>
              <c:pt idx="17">
                <c:v>-7.0289699927546023E-2</c:v>
              </c:pt>
              <c:pt idx="18">
                <c:v>-3.5411329654711138E-2</c:v>
              </c:pt>
              <c:pt idx="19">
                <c:v>-4.1193268695093536E-2</c:v>
              </c:pt>
              <c:pt idx="20">
                <c:v>-7.0211488791107515E-2</c:v>
              </c:pt>
              <c:pt idx="21">
                <c:v>-7.5932000054241569E-2</c:v>
              </c:pt>
              <c:pt idx="22">
                <c:v>-7.1758290791919935E-2</c:v>
              </c:pt>
              <c:pt idx="23">
                <c:v>-9.1873798235030793E-2</c:v>
              </c:pt>
              <c:pt idx="24">
                <c:v>-4.8914062753125556E-2</c:v>
              </c:pt>
              <c:pt idx="25">
                <c:v>-4.7056810475161873E-2</c:v>
              </c:pt>
              <c:pt idx="26">
                <c:v>5.2713133399933363E-4</c:v>
              </c:pt>
              <c:pt idx="27">
                <c:v>1.1536644883618632E-2</c:v>
              </c:pt>
              <c:pt idx="28">
                <c:v>-7.0731591467100452E-2</c:v>
              </c:pt>
              <c:pt idx="29">
                <c:v>-3.2525190706358571E-2</c:v>
              </c:pt>
              <c:pt idx="30">
                <c:v>-5.8662941523501454E-2</c:v>
              </c:pt>
              <c:pt idx="31">
                <c:v>1.6971765946619817E-2</c:v>
              </c:pt>
              <c:pt idx="32">
                <c:v>-3.1417888947279031E-2</c:v>
              </c:pt>
              <c:pt idx="33">
                <c:v>7.1706048935060544E-3</c:v>
              </c:pt>
            </c:numLit>
          </c:val>
          <c:extLst>
            <c:ext xmlns:c16="http://schemas.microsoft.com/office/drawing/2014/chart" uri="{C3380CC4-5D6E-409C-BE32-E72D297353CC}">
              <c16:uniqueId val="{0000000C-388B-4450-AB2F-684AA6D77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06"/>
          <c:min val="-0.1"/>
        </c:scaling>
        <c:delete val="0"/>
        <c:axPos val="l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8F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7F8F6"/>
    </a:solidFill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Quantity lift</c:v>
          </c:tx>
          <c:spPr>
            <a:solidFill>
              <a:srgbClr val="007F7B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EF6A5B"/>
              </a:solidFill>
            </c:spPr>
            <c:extLst>
              <c:ext xmlns:c16="http://schemas.microsoft.com/office/drawing/2014/chart" uri="{C3380CC4-5D6E-409C-BE32-E72D297353CC}">
                <c16:uniqueId val="{00000001-1FFB-4ECB-A65B-293A70D4B770}"/>
              </c:ext>
            </c:extLst>
          </c:dPt>
          <c:dLbls>
            <c:delete val="1"/>
          </c:dLbls>
          <c:cat>
            <c:strLit>
              <c:ptCount val="3"/>
              <c:pt idx="0">
                <c:v>Extended special</c:v>
              </c:pt>
              <c:pt idx="1">
                <c:v>Autumn discount</c:v>
              </c:pt>
              <c:pt idx="2">
                <c:v>Early-2016 discount</c:v>
              </c:pt>
            </c:strLit>
          </c:cat>
          <c:val>
            <c:numLit>
              <c:formatCode>General</c:formatCode>
              <c:ptCount val="3"/>
              <c:pt idx="0">
                <c:v>119</c:v>
              </c:pt>
              <c:pt idx="1">
                <c:v>413</c:v>
              </c:pt>
              <c:pt idx="2">
                <c:v>173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FFB-4ECB-A65B-293A70D4B7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8242A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8F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7F8F6"/>
    </a:solidFill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daily sales</c:v>
          </c:tx>
          <c:spPr>
            <a:solidFill>
              <a:srgbClr val="5AA9A5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007F7B"/>
              </a:solidFill>
            </c:spPr>
            <c:extLst>
              <c:ext xmlns:c16="http://schemas.microsoft.com/office/drawing/2014/chart" uri="{C3380CC4-5D6E-409C-BE32-E72D297353CC}">
                <c16:uniqueId val="{00000001-0F04-4C2F-A9EC-F4FD5F2E27BE}"/>
              </c:ext>
            </c:extLst>
          </c:dPt>
          <c:dPt>
            <c:idx val="5"/>
            <c:invertIfNegative val="1"/>
            <c:bubble3D val="0"/>
            <c:spPr>
              <a:solidFill>
                <a:srgbClr val="EF6A5B"/>
              </a:solidFill>
            </c:spPr>
            <c:extLst>
              <c:ext xmlns:c16="http://schemas.microsoft.com/office/drawing/2014/chart" uri="{C3380CC4-5D6E-409C-BE32-E72D297353CC}">
                <c16:uniqueId val="{00000003-0F04-4C2F-A9EC-F4FD5F2E27BE}"/>
              </c:ext>
            </c:extLst>
          </c:dPt>
          <c:cat>
            <c:strLit>
              <c:ptCount val="7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  <c:pt idx="5">
                <c:v>Sat</c:v>
              </c:pt>
              <c:pt idx="6">
                <c:v>Sun</c:v>
              </c:pt>
            </c:strLit>
          </c:cat>
          <c:val>
            <c:numLit>
              <c:formatCode>\R0,"k"</c:formatCode>
              <c:ptCount val="7"/>
              <c:pt idx="0">
                <c:v>160660.92037270588</c:v>
              </c:pt>
              <c:pt idx="1">
                <c:v>140619.36727929403</c:v>
              </c:pt>
              <c:pt idx="2">
                <c:v>150378.99131892232</c:v>
              </c:pt>
              <c:pt idx="3">
                <c:v>145120.20375435887</c:v>
              </c:pt>
              <c:pt idx="4">
                <c:v>251441.06727904096</c:v>
              </c:pt>
              <c:pt idx="5">
                <c:v>285781.26252998697</c:v>
              </c:pt>
              <c:pt idx="6">
                <c:v>141527.30837855773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F04-4C2F-A9EC-F4FD5F2E2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FDC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8242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20000"/>
        </c:scaling>
        <c:delete val="0"/>
        <c:axPos val="l"/>
        <c:majorGridlines>
          <c:spPr>
            <a:ln w="9525">
              <a:solidFill>
                <a:srgbClr val="D9DFDC"/>
              </a:solidFill>
              <a:prstDash val="solid"/>
            </a:ln>
          </c:spPr>
        </c:majorGridlines>
        <c:numFmt formatCode="\R0,&quot;k&quot;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077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8F6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7F8F6"/>
    </a:solidFill>
    <a:ln w="0">
      <a:noFill/>
      <a:prstDash val="solid"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72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800" b="1">
                <a:solidFill>
                  <a:srgbClr val="262E33"/>
                </a:solidFill>
                <a:latin typeface="Arial"/>
              </a:rPr>
              <a:t>SALES ANALYSIS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9160" y="2578608"/>
            <a:ext cx="2743200" cy="381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852928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1F6F70"/>
                </a:solidFill>
                <a:latin typeface="Arial"/>
              </a:rPr>
              <a:t>CREATED BY HITEKANI MASINGI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85032"/>
            <a:ext cx="10515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5B6670"/>
                </a:solidFill>
                <a:latin typeface="Arial"/>
              </a:rPr>
              <a:t>Sales performance, profitability and promotion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7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dirty="0">
                <a:solidFill>
                  <a:srgbClr val="5B6670"/>
                </a:solidFill>
                <a:latin typeface="Arial"/>
              </a:rPr>
              <a:t>30 December 2013 – 24 September 2016</a:t>
            </a:r>
          </a:p>
        </p:txBody>
      </p:sp>
    </p:spTree>
    <p:extLst>
      <p:ext uri="{BB962C8B-B14F-4D97-AF65-F5344CB8AC3E}">
        <p14:creationId xmlns:p14="http://schemas.microsoft.com/office/powerpoint/2010/main" val="205580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62E33"/>
                </a:solidFill>
                <a:latin typeface="Arial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630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Sales Performance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856232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Quarterly Sales Trend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514600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61320" y="21214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7977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7977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Price and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3172968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61320" y="277977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3814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3814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Monthly Profitability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831335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20" y="343814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1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96511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Promotion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489703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61320" y="4096511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79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54879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Sales by Day of Week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5148071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61320" y="4754879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13247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6F70"/>
                </a:solidFill>
                <a:latin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413247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62E33"/>
                </a:solidFill>
                <a:latin typeface="Arial"/>
              </a:rPr>
              <a:t>Recommendations and 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5806439"/>
            <a:ext cx="8686800" cy="12700"/>
          </a:xfrm>
          <a:prstGeom prst="rect">
            <a:avLst/>
          </a:prstGeom>
          <a:solidFill>
            <a:srgbClr val="DA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5413247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670"/>
                </a:solidFill>
                <a:latin typeface="Arial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670"/>
                </a:solidFill>
                <a:latin typeface="Arial"/>
              </a:rPr>
              <a:t>Sales Analysis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8832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2">
            <a:extLst>
              <a:ext uri="{FF2B5EF4-FFF2-40B4-BE49-F238E27FC236}">
                <a16:creationId xmlns:a16="http://schemas.microsoft.com/office/drawing/2014/main" id="{84B8539C-1882-4C69-9196-C67B8C515DC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Overview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D4E0663E-03DC-4603-BC1A-EDBDBF1397E5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Sales Performance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F2C90-A671-4887-A262-115DF68E48F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EE7DC-2D2B-4A13-96AD-842CD9AB71CE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1532D-CCE6-455D-B4DE-C6E261813879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TOTAL SALES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FA866-A2D4-412D-9903-B26B5A00DEF3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00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R182.3m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6D3F9-D4E0-414C-8DC2-3B31894281A1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Across 1,000 days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530F06-35D6-44AA-A57A-7011B9529503}"/>
              </a:ext>
            </a:extLst>
          </p:cNvPr>
          <p:cNvSpPr>
            <a:spLocks noGrp="1"/>
          </p:cNvSpPr>
          <p:nvPr/>
        </p:nvSpPr>
        <p:spPr>
          <a:xfrm>
            <a:off x="3143250" y="1685925"/>
            <a:ext cx="19050" cy="12382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0B240C-8911-4FAB-9FE8-916376A31CB7}"/>
              </a:ext>
            </a:extLst>
          </p:cNvPr>
          <p:cNvSpPr>
            <a:spLocks noGrp="1"/>
          </p:cNvSpPr>
          <p:nvPr/>
        </p:nvSpPr>
        <p:spPr>
          <a:xfrm>
            <a:off x="3429000" y="16859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UNITS SOLD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1AEF5-8E02-4601-80F1-4414B0292B53}"/>
              </a:ext>
            </a:extLst>
          </p:cNvPr>
          <p:cNvSpPr>
            <a:spLocks noGrp="1"/>
          </p:cNvSpPr>
          <p:nvPr/>
        </p:nvSpPr>
        <p:spPr>
          <a:xfrm>
            <a:off x="3429000" y="19240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00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5.17m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48A8F-89DB-48BA-A13F-DC36B4FC1AD3}"/>
              </a:ext>
            </a:extLst>
          </p:cNvPr>
          <p:cNvSpPr>
            <a:spLocks noGrp="1"/>
          </p:cNvSpPr>
          <p:nvPr/>
        </p:nvSpPr>
        <p:spPr>
          <a:xfrm>
            <a:off x="3429000" y="25812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Weighted price R35.27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40D00B-021C-4C3E-BB7F-527CA5B1F975}"/>
              </a:ext>
            </a:extLst>
          </p:cNvPr>
          <p:cNvSpPr>
            <a:spLocks noGrp="1"/>
          </p:cNvSpPr>
          <p:nvPr/>
        </p:nvSpPr>
        <p:spPr>
          <a:xfrm>
            <a:off x="5962650" y="1685925"/>
            <a:ext cx="19050" cy="12382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180693-BF03-45D6-956E-9691150B2037}"/>
              </a:ext>
            </a:extLst>
          </p:cNvPr>
          <p:cNvSpPr>
            <a:spLocks noGrp="1"/>
          </p:cNvSpPr>
          <p:nvPr/>
        </p:nvSpPr>
        <p:spPr>
          <a:xfrm>
            <a:off x="6248400" y="16859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GROSS PROFIT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67BFBE-E7DB-454E-9724-C9E276C7DE87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00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–R7.49m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CCAD63-9D67-4E5E-AF0E-952CD7C4D1EE}"/>
              </a:ext>
            </a:extLst>
          </p:cNvPr>
          <p:cNvSpPr>
            <a:spLocks noGrp="1"/>
          </p:cNvSpPr>
          <p:nvPr/>
        </p:nvSpPr>
        <p:spPr>
          <a:xfrm>
            <a:off x="6248400" y="25812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Cost exceeded sales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67E8E-1B4B-4786-932F-0E58AB8E27BD}"/>
              </a:ext>
            </a:extLst>
          </p:cNvPr>
          <p:cNvSpPr>
            <a:spLocks noGrp="1"/>
          </p:cNvSpPr>
          <p:nvPr/>
        </p:nvSpPr>
        <p:spPr>
          <a:xfrm>
            <a:off x="8782050" y="1685925"/>
            <a:ext cx="19050" cy="12382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994969-6D08-40C0-884B-B7754B66E0D4}"/>
              </a:ext>
            </a:extLst>
          </p:cNvPr>
          <p:cNvSpPr>
            <a:spLocks noGrp="1"/>
          </p:cNvSpPr>
          <p:nvPr/>
        </p:nvSpPr>
        <p:spPr>
          <a:xfrm>
            <a:off x="9067800" y="16859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GROSS MARGIN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92F51-28CF-42D9-91AB-DFFA2689D9CC}"/>
              </a:ext>
            </a:extLst>
          </p:cNvPr>
          <p:cNvSpPr>
            <a:spLocks noGrp="1"/>
          </p:cNvSpPr>
          <p:nvPr/>
        </p:nvSpPr>
        <p:spPr>
          <a:xfrm>
            <a:off x="9067800" y="19240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00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-4.1%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2BCDC3-7E25-4C27-B2D6-BABEBEF9D1DC}"/>
              </a:ext>
            </a:extLst>
          </p:cNvPr>
          <p:cNvSpPr>
            <a:spLocks noGrp="1"/>
          </p:cNvSpPr>
          <p:nvPr/>
        </p:nvSpPr>
        <p:spPr>
          <a:xfrm>
            <a:off x="9067800" y="25812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R189.8m cost base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06342B-8C41-4B8D-970E-A8BE8A6072E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97280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4BE55C-E5D6-418F-8360-C3EBD7250DCC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b="1">
                <a:solidFill>
                  <a:srgbClr val="1F6F70"/>
                </a:solidFill>
                <a:latin typeface="Arial"/>
              </a:rPr>
              <a:t>Summary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95E0A-4713-4077-9003-638DA7FFDA5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5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b="1">
                <a:solidFill>
                  <a:srgbClr val="262E33"/>
                </a:solidFill>
                <a:latin typeface="Arial"/>
              </a:rPr>
              <a:t>Sales were strong, but the average selling price did not cover total cost.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F2E1F2-138E-4ECE-A2B9-25AA77DBEA2F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6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b="0">
                <a:solidFill>
                  <a:srgbClr val="262E33"/>
                </a:solidFill>
                <a:latin typeface="Arial"/>
              </a:rPr>
              <a:t>The weighted price was 4.2% below the daily average because higher-volume days had lower prices.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712F53-2B36-44AB-B6C0-B746B8351EE8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1">
                <a:solidFill>
                  <a:srgbClr val="1F6F70"/>
                </a:solidFill>
                <a:latin typeface="Arial"/>
              </a:rPr>
              <a:t>Next step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83E95E-2EB6-4D41-B57E-AE59A2487389}"/>
              </a:ext>
            </a:extLst>
          </p:cNvPr>
          <p:cNvSpPr>
            <a:spLocks noGrp="1"/>
          </p:cNvSpPr>
          <p:nvPr/>
        </p:nvSpPr>
        <p:spPr>
          <a:xfrm>
            <a:off x="1762125" y="5505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87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b="1">
                <a:solidFill>
                  <a:srgbClr val="262E33"/>
                </a:solidFill>
                <a:latin typeface="Arial"/>
              </a:rPr>
              <a:t>Use gross margin, not only unit growth, when evaluating promotions.</a:t>
            </a:r>
          </a:p>
        </p:txBody>
      </p:sp>
    </p:spTree>
    <p:extLst>
      <p:ext uri="{BB962C8B-B14F-4D97-AF65-F5344CB8AC3E}">
        <p14:creationId xmlns:p14="http://schemas.microsoft.com/office/powerpoint/2010/main" val="37882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3">
            <a:extLst>
              <a:ext uri="{FF2B5EF4-FFF2-40B4-BE49-F238E27FC236}">
                <a16:creationId xmlns:a16="http://schemas.microsoft.com/office/drawing/2014/main" id="{830CED83-A7CD-4A2C-BDD5-D3FB9E557965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Sales trend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A724153-C59A-43C9-8725-E67C6EDB5405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Quarterly Sales Trend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A2E44-F56E-4903-9C66-6D0407ABAFF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83CC2-A95C-471D-B37B-4040403420E7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04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609600" y="1685925"/>
          <a:ext cx="7239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7942890-AA4A-4AB4-9E69-CA717256547A}"/>
              </a:ext>
            </a:extLst>
          </p:cNvPr>
          <p:cNvSpPr>
            <a:spLocks noGrp="1"/>
          </p:cNvSpPr>
          <p:nvPr/>
        </p:nvSpPr>
        <p:spPr>
          <a:xfrm>
            <a:off x="8210550" y="17526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Q3 ’14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19547-D537-48A2-A153-988186666A69}"/>
              </a:ext>
            </a:extLst>
          </p:cNvPr>
          <p:cNvSpPr>
            <a:spLocks noGrp="1"/>
          </p:cNvSpPr>
          <p:nvPr/>
        </p:nvSpPr>
        <p:spPr>
          <a:xfrm>
            <a:off x="8210550" y="200977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1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15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R22.6m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9ADBF-CDCA-46F9-BA9C-5CBEDFF0BF9D}"/>
              </a:ext>
            </a:extLst>
          </p:cNvPr>
          <p:cNvSpPr>
            <a:spLocks noGrp="1"/>
          </p:cNvSpPr>
          <p:nvPr/>
        </p:nvSpPr>
        <p:spPr>
          <a:xfrm>
            <a:off x="8210550" y="25050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Highest quarter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1AEE1-3A6A-439B-89E5-D0E93E404B90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2762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60284-2A1A-4973-86C0-B1FE13C47C4B}"/>
              </a:ext>
            </a:extLst>
          </p:cNvPr>
          <p:cNvSpPr>
            <a:spLocks noGrp="1"/>
          </p:cNvSpPr>
          <p:nvPr/>
        </p:nvSpPr>
        <p:spPr>
          <a:xfrm>
            <a:off x="8210550" y="3200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2015 vs 2014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8CE55-D7C0-4214-A38B-BF1B108A7628}"/>
              </a:ext>
            </a:extLst>
          </p:cNvPr>
          <p:cNvSpPr>
            <a:spLocks noGrp="1"/>
          </p:cNvSpPr>
          <p:nvPr/>
        </p:nvSpPr>
        <p:spPr>
          <a:xfrm>
            <a:off x="8210550" y="347662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15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15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–15.1%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B64EEF-B964-488F-B054-26252A0B092D}"/>
              </a:ext>
            </a:extLst>
          </p:cNvPr>
          <p:cNvSpPr>
            <a:spLocks noGrp="1"/>
          </p:cNvSpPr>
          <p:nvPr/>
        </p:nvSpPr>
        <p:spPr>
          <a:xfrm>
            <a:off x="8210550" y="39719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Sales; units fell 23.9%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02DB9B-A696-43F5-8F9B-B3900F36DA1C}"/>
              </a:ext>
            </a:extLst>
          </p:cNvPr>
          <p:cNvSpPr>
            <a:spLocks noGrp="1"/>
          </p:cNvSpPr>
          <p:nvPr/>
        </p:nvSpPr>
        <p:spPr>
          <a:xfrm>
            <a:off x="8210550" y="4400550"/>
            <a:ext cx="2762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5A8CAF-82B8-40DF-88AC-D6A5404EE5C6}"/>
              </a:ext>
            </a:extLst>
          </p:cNvPr>
          <p:cNvSpPr>
            <a:spLocks noGrp="1"/>
          </p:cNvSpPr>
          <p:nvPr/>
        </p:nvSpPr>
        <p:spPr>
          <a:xfrm>
            <a:off x="8210550" y="46577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D9A441"/>
                </a:solidFill>
                <a:latin typeface="Arial"/>
                <a:ea typeface="Aptos Display"/>
                <a:cs typeface="Aptos Display"/>
              </a:rPr>
              <a:t>Q3 ’16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A5ECD3-6AEA-451A-B8EA-04FB73A38724}"/>
              </a:ext>
            </a:extLst>
          </p:cNvPr>
          <p:cNvSpPr>
            <a:spLocks noGrp="1"/>
          </p:cNvSpPr>
          <p:nvPr/>
        </p:nvSpPr>
        <p:spPr>
          <a:xfrm>
            <a:off x="9639300" y="4648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1125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PARTIAL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11B68-EE05-4521-B648-4B0D2086E7A8}"/>
              </a:ext>
            </a:extLst>
          </p:cNvPr>
          <p:cNvSpPr>
            <a:spLocks noGrp="1"/>
          </p:cNvSpPr>
          <p:nvPr/>
        </p:nvSpPr>
        <p:spPr>
          <a:xfrm>
            <a:off x="8210550" y="495300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Through 24 September—do not compare as a complete quarter.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8EDB3B-DC37-4FD1-A201-9DE21C620191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Quarterly sales (R)</a:t>
            </a:r>
          </a:p>
        </p:txBody>
      </p:sp>
    </p:spTree>
    <p:extLst>
      <p:ext uri="{BB962C8B-B14F-4D97-AF65-F5344CB8AC3E}">
        <p14:creationId xmlns:p14="http://schemas.microsoft.com/office/powerpoint/2010/main" val="60204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4">
            <a:extLst>
              <a:ext uri="{FF2B5EF4-FFF2-40B4-BE49-F238E27FC236}">
                <a16:creationId xmlns:a16="http://schemas.microsoft.com/office/drawing/2014/main" id="{DE13C639-F540-461A-91F2-3D0B928423C0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Price and demand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691BFF1-1585-4274-9F12-475D5A5FC31E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Price and Demand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867AF-C785-4A66-9067-303AFB8C9CC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36B0F-CD43-40DB-806C-018CA52721D5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5F59A-ADC0-4BBF-9E64-0962F7A19ABD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WEIGHTED PRICE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59317-97D8-4DB7-AA28-CD7DA90F7FE0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90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90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R35.27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2EF1B-DBDF-41EB-9CD6-46156196E81C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vs R36.83 simple daily average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58BF16-B6C8-4C05-9A8E-DFFD2190D389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285750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D18C1-A0CB-40AF-8C6F-E61D809987A5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DAILY CORRELATION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564001-D803-48F4-8D67-A46709B4EA11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90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90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-0.61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090236-D818-4C72-B96D-C85330941157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Price per unit vs units sold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BEA6E4-00A9-4146-AF66-6C0D2D3C6B2E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285750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1EEA10-EAE0-4C73-88C5-66F2CC8D70EE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Note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8DE861-8C0A-4967-BADC-69AD5AF80A42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>
                <a:solidFill>
                  <a:srgbClr val="18242A"/>
                </a:solidFill>
                <a:latin typeface="Aptos"/>
                <a:ea typeface="Aptos"/>
                <a:cs typeface="Aptos"/>
              </a:defRPr>
            </a:pPr>
            <a:r>
              <a:rPr lang="en-US" sz="1600" b="0">
                <a:solidFill>
                  <a:srgbClr val="262E33"/>
                </a:solidFill>
                <a:latin typeface="Arial"/>
              </a:rPr>
              <a:t>Lower-price months generally recorded higher sales volume.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3905250" y="1628775"/>
          <a:ext cx="7524750" cy="4238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20BF869-CA37-48A4-893C-359C6008440E}"/>
              </a:ext>
            </a:extLst>
          </p:cNvPr>
          <p:cNvSpPr>
            <a:spLocks noGrp="1"/>
          </p:cNvSpPr>
          <p:nvPr/>
        </p:nvSpPr>
        <p:spPr>
          <a:xfrm>
            <a:off x="8667750" y="573405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9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Each dot = one month</a:t>
            </a:r>
          </a:p>
        </p:txBody>
      </p:sp>
    </p:spTree>
    <p:extLst>
      <p:ext uri="{BB962C8B-B14F-4D97-AF65-F5344CB8AC3E}">
        <p14:creationId xmlns:p14="http://schemas.microsoft.com/office/powerpoint/2010/main" val="809143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-5">
            <a:extLst>
              <a:ext uri="{FF2B5EF4-FFF2-40B4-BE49-F238E27FC236}">
                <a16:creationId xmlns:a16="http://schemas.microsoft.com/office/drawing/2014/main" id="{2FCA16BA-87E5-49ED-BAC1-DC3CD2D03ED9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Profitability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0DC290FD-C68A-4A95-A71B-680463834349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Monthly Profitability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68A381-672D-4942-8140-A63773201D1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63C4C-0487-4315-9B5A-63BE2513F341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06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609600" y="1657350"/>
          <a:ext cx="78105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E234168-0E8A-4CB7-BE54-247AF443D12C}"/>
              </a:ext>
            </a:extLst>
          </p:cNvPr>
          <p:cNvSpPr>
            <a:spLocks noGrp="1"/>
          </p:cNvSpPr>
          <p:nvPr/>
        </p:nvSpPr>
        <p:spPr>
          <a:xfrm>
            <a:off x="1000125" y="52197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75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75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JAN 2014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4DD88-2F5C-40A0-B17F-082F80C7CD0D}"/>
              </a:ext>
            </a:extLst>
          </p:cNvPr>
          <p:cNvSpPr>
            <a:spLocks noGrp="1"/>
          </p:cNvSpPr>
          <p:nvPr/>
        </p:nvSpPr>
        <p:spPr>
          <a:xfrm>
            <a:off x="3600450" y="52197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75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75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JAN 2015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17043-FA0D-4F68-995C-95FE377B6F0C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75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75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JAN 2016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4ACC2-BEF7-4059-B1F0-F173DCDDC2B4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Monthly gross margin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495F1-E57B-47D5-ADAE-23F40A5559A7}"/>
              </a:ext>
            </a:extLst>
          </p:cNvPr>
          <p:cNvSpPr>
            <a:spLocks noGrp="1"/>
          </p:cNvSpPr>
          <p:nvPr/>
        </p:nvSpPr>
        <p:spPr>
          <a:xfrm>
            <a:off x="8801100" y="1724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BEST MONTH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0CB27E-273E-43A2-BD8D-EF8BA325546B}"/>
              </a:ext>
            </a:extLst>
          </p:cNvPr>
          <p:cNvSpPr>
            <a:spLocks noGrp="1"/>
          </p:cNvSpPr>
          <p:nvPr/>
        </p:nvSpPr>
        <p:spPr>
          <a:xfrm>
            <a:off x="8801100" y="19812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45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450" b="1">
                <a:solidFill>
                  <a:srgbClr val="D9A441"/>
                </a:solidFill>
                <a:latin typeface="Arial"/>
                <a:ea typeface="Aptos Display"/>
                <a:cs typeface="Aptos Display"/>
              </a:rPr>
              <a:t>+4.3%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1A7C65-8776-4C9F-8347-97CFEC0A909E}"/>
              </a:ext>
            </a:extLst>
          </p:cNvPr>
          <p:cNvSpPr>
            <a:spLocks noGrp="1"/>
          </p:cNvSpPr>
          <p:nvPr/>
        </p:nvSpPr>
        <p:spPr>
          <a:xfrm>
            <a:off x="8801100" y="2514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November 2014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6E8C4D-2785-41D5-9C2E-AA5BF09E8EA2}"/>
              </a:ext>
            </a:extLst>
          </p:cNvPr>
          <p:cNvSpPr>
            <a:spLocks noGrp="1"/>
          </p:cNvSpPr>
          <p:nvPr/>
        </p:nvSpPr>
        <p:spPr>
          <a:xfrm>
            <a:off x="8801100" y="2990850"/>
            <a:ext cx="2381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947096-9652-4E2D-9B73-BE6710028ED9}"/>
              </a:ext>
            </a:extLst>
          </p:cNvPr>
          <p:cNvSpPr>
            <a:spLocks noGrp="1"/>
          </p:cNvSpPr>
          <p:nvPr/>
        </p:nvSpPr>
        <p:spPr>
          <a:xfrm>
            <a:off x="8801100" y="3248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WORST MONTH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4B3E9-139D-426B-8B21-A8CC15F1B0A5}"/>
              </a:ext>
            </a:extLst>
          </p:cNvPr>
          <p:cNvSpPr>
            <a:spLocks noGrp="1"/>
          </p:cNvSpPr>
          <p:nvPr/>
        </p:nvSpPr>
        <p:spPr>
          <a:xfrm>
            <a:off x="8801100" y="35052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45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45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–9.2%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076E97-9096-4E15-A35F-B24AC92B7A4B}"/>
              </a:ext>
            </a:extLst>
          </p:cNvPr>
          <p:cNvSpPr>
            <a:spLocks noGrp="1"/>
          </p:cNvSpPr>
          <p:nvPr/>
        </p:nvSpPr>
        <p:spPr>
          <a:xfrm>
            <a:off x="8801100" y="403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November 2015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D8E50D-34E6-4F63-8EF3-593FFADCB878}"/>
              </a:ext>
            </a:extLst>
          </p:cNvPr>
          <p:cNvSpPr>
            <a:spLocks noGrp="1"/>
          </p:cNvSpPr>
          <p:nvPr/>
        </p:nvSpPr>
        <p:spPr>
          <a:xfrm>
            <a:off x="8801100" y="4514850"/>
            <a:ext cx="2381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27FF92-988E-4795-8B8F-5D422233C5BD}"/>
              </a:ext>
            </a:extLst>
          </p:cNvPr>
          <p:cNvSpPr>
            <a:spLocks noGrp="1"/>
          </p:cNvSpPr>
          <p:nvPr/>
        </p:nvSpPr>
        <p:spPr>
          <a:xfrm>
            <a:off x="8801100" y="4772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LATEST DAY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A0E83E-1534-47FB-A407-2257595D1059}"/>
              </a:ext>
            </a:extLst>
          </p:cNvPr>
          <p:cNvSpPr>
            <a:spLocks noGrp="1"/>
          </p:cNvSpPr>
          <p:nvPr/>
        </p:nvSpPr>
        <p:spPr>
          <a:xfrm>
            <a:off x="8801100" y="50292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15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15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+10.6%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5ADC6C-15AC-45D1-B95B-BE5C1C2344D8}"/>
              </a:ext>
            </a:extLst>
          </p:cNvPr>
          <p:cNvSpPr>
            <a:spLocks noGrp="1"/>
          </p:cNvSpPr>
          <p:nvPr/>
        </p:nvSpPr>
        <p:spPr>
          <a:xfrm>
            <a:off x="8801100" y="55435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27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A positive signal—not yet a stable trend.</a:t>
            </a:r>
          </a:p>
        </p:txBody>
      </p:sp>
    </p:spTree>
    <p:extLst>
      <p:ext uri="{BB962C8B-B14F-4D97-AF65-F5344CB8AC3E}">
        <p14:creationId xmlns:p14="http://schemas.microsoft.com/office/powerpoint/2010/main" val="99658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-6">
            <a:extLst>
              <a:ext uri="{FF2B5EF4-FFF2-40B4-BE49-F238E27FC236}">
                <a16:creationId xmlns:a16="http://schemas.microsoft.com/office/drawing/2014/main" id="{E40AF576-EB55-4E4A-9F1C-794CB3F653E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Promotions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EF215A3-669E-443B-904D-1DE52473EDC9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Promotion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B76F6-7734-4686-82DE-92498CBBCC6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ABD20-26D2-4469-830E-5D54DD413B0C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07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609600" y="1685925"/>
          <a:ext cx="6191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B1D90F9-2FFA-4E81-B211-AC2CD0EB0B35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Quantity lift vs 14-day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C8651E-207A-4A50-91E1-98B61C29394C}"/>
              </a:ext>
            </a:extLst>
          </p:cNvPr>
          <p:cNvSpPr>
            <a:spLocks noGrp="1"/>
          </p:cNvSpPr>
          <p:nvPr/>
        </p:nvSpPr>
        <p:spPr>
          <a:xfrm>
            <a:off x="7400925" y="17049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ELASTICITY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B743F0-3084-44E5-AD90-FE818081AD3F}"/>
              </a:ext>
            </a:extLst>
          </p:cNvPr>
          <p:cNvSpPr>
            <a:spLocks noGrp="1"/>
          </p:cNvSpPr>
          <p:nvPr/>
        </p:nvSpPr>
        <p:spPr>
          <a:xfrm>
            <a:off x="7400925" y="1971675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75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75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–27.6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96E54-6FE9-4C6F-8B81-5318341D9605}"/>
              </a:ext>
            </a:extLst>
          </p:cNvPr>
          <p:cNvSpPr>
            <a:spLocks noGrp="1"/>
          </p:cNvSpPr>
          <p:nvPr/>
        </p:nvSpPr>
        <p:spPr>
          <a:xfrm>
            <a:off x="7400925" y="255270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Autumn deep discount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3CF72-AC0A-45E7-A041-73A4431980C9}"/>
              </a:ext>
            </a:extLst>
          </p:cNvPr>
          <p:cNvSpPr>
            <a:spLocks noGrp="1"/>
          </p:cNvSpPr>
          <p:nvPr/>
        </p:nvSpPr>
        <p:spPr>
          <a:xfrm>
            <a:off x="7400925" y="2981325"/>
            <a:ext cx="3524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6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A 15.0% price cut coincided with a 413% volume lift.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40093-54A8-4915-A38D-C87076323220}"/>
              </a:ext>
            </a:extLst>
          </p:cNvPr>
          <p:cNvSpPr>
            <a:spLocks noGrp="1"/>
          </p:cNvSpPr>
          <p:nvPr/>
        </p:nvSpPr>
        <p:spPr>
          <a:xfrm>
            <a:off x="7400925" y="38100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Realised promo margin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7E526E-CD06-4896-9B75-7B96991575E8}"/>
              </a:ext>
            </a:extLst>
          </p:cNvPr>
          <p:cNvSpPr>
            <a:spLocks noGrp="1"/>
          </p:cNvSpPr>
          <p:nvPr/>
        </p:nvSpPr>
        <p:spPr>
          <a:xfrm>
            <a:off x="7400925" y="40671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15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15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–13.6%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985605-F573-41B7-9E78-C495C7066500}"/>
              </a:ext>
            </a:extLst>
          </p:cNvPr>
          <p:cNvSpPr>
            <a:spLocks noGrp="1"/>
          </p:cNvSpPr>
          <p:nvPr/>
        </p:nvSpPr>
        <p:spPr>
          <a:xfrm>
            <a:off x="7400925" y="4581525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42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5B6670"/>
                </a:solidFill>
                <a:latin typeface="Arial"/>
              </a:rPr>
              <a:t>Higher volume did not offset the lower margin.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398026-7326-434A-9640-BD65C1C2DFD4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382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5E52D9-D61D-41D9-8DE6-B4FE79F6380C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Extended low-price special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2CC921-D6E1-4A62-AE60-08680A7DF4A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20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Price -8.0%  ·  Elasticity -15.0  ·  Margin -4.9%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FB914-2284-41C7-A3F0-7DDA0565269A}"/>
              </a:ext>
            </a:extLst>
          </p:cNvPr>
          <p:cNvSpPr>
            <a:spLocks noGrp="1"/>
          </p:cNvSpPr>
          <p:nvPr/>
        </p:nvSpPr>
        <p:spPr>
          <a:xfrm>
            <a:off x="4143375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Autumn deep discount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80EFA7-7A47-47FC-B86E-2A36CCCF8F6E}"/>
              </a:ext>
            </a:extLst>
          </p:cNvPr>
          <p:cNvSpPr>
            <a:spLocks noGrp="1"/>
          </p:cNvSpPr>
          <p:nvPr/>
        </p:nvSpPr>
        <p:spPr>
          <a:xfrm>
            <a:off x="4143375" y="57721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00" b="0">
                <a:solidFill>
                  <a:srgbClr val="EF6A5B"/>
                </a:solidFill>
                <a:latin typeface="Aptos"/>
                <a:ea typeface="Aptos"/>
                <a:cs typeface="Aptos"/>
              </a:defRPr>
            </a:pPr>
            <a:r>
              <a:rPr lang="en-US" sz="1200" b="0">
                <a:solidFill>
                  <a:srgbClr val="EF6A5B"/>
                </a:solidFill>
                <a:latin typeface="Arial"/>
                <a:ea typeface="Aptos"/>
                <a:cs typeface="Aptos"/>
              </a:rPr>
              <a:t>Price -15.0%  ·  Elasticity -27.6  ·  Margin -13.6%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CA626F-B2A4-4F9D-938A-5C471BDFBFFD}"/>
              </a:ext>
            </a:extLst>
          </p:cNvPr>
          <p:cNvSpPr>
            <a:spLocks noGrp="1"/>
          </p:cNvSpPr>
          <p:nvPr/>
        </p:nvSpPr>
        <p:spPr>
          <a:xfrm>
            <a:off x="7572375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2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Early-2016 deep discount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B86FA7-1262-4B29-9811-F5AD46056AA3}"/>
              </a:ext>
            </a:extLst>
          </p:cNvPr>
          <p:cNvSpPr>
            <a:spLocks noGrp="1"/>
          </p:cNvSpPr>
          <p:nvPr/>
        </p:nvSpPr>
        <p:spPr>
          <a:xfrm>
            <a:off x="7572375" y="57721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20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Price -16.4%  ·  Elasticity -10.6  ·  Margin -8.1%</a:t>
            </a:r>
          </a:p>
        </p:txBody>
      </p:sp>
    </p:spTree>
    <p:extLst>
      <p:ext uri="{BB962C8B-B14F-4D97-AF65-F5344CB8AC3E}">
        <p14:creationId xmlns:p14="http://schemas.microsoft.com/office/powerpoint/2010/main" val="64886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7">
            <a:extLst>
              <a:ext uri="{FF2B5EF4-FFF2-40B4-BE49-F238E27FC236}">
                <a16:creationId xmlns:a16="http://schemas.microsoft.com/office/drawing/2014/main" id="{246A2543-B91A-4E2C-9964-4FAC79DB5AEC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Weekly pattern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EBBAC5E0-0668-4947-A8D0-160DFB69E6A2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00" b="1">
                <a:solidFill>
                  <a:srgbClr val="262E33"/>
                </a:solidFill>
                <a:latin typeface="Arial"/>
              </a:rPr>
              <a:t>Sales by Day of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37F046-D8FC-4346-93FE-4703D868A3A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1B964-9159-44E5-B655-5C34422DF5FD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08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609600" y="1676400"/>
          <a:ext cx="7524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9ECAC73-8095-4B21-9E29-6E65874DD33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050" b="1">
                <a:solidFill>
                  <a:srgbClr val="607077"/>
                </a:solidFill>
                <a:latin typeface="Arial"/>
                <a:ea typeface="Aptos Display"/>
                <a:cs typeface="Aptos Display"/>
              </a:rPr>
              <a:t>Average sales per observed day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75C89-7A1C-4E77-A1E2-6DD1A45D035B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050" b="1">
                <a:solidFill>
                  <a:srgbClr val="EF6A5B"/>
                </a:solidFill>
                <a:latin typeface="Arial"/>
                <a:ea typeface="Aptos Display"/>
                <a:cs typeface="Aptos Display"/>
              </a:rPr>
              <a:t>SATURDAY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B2877-89B0-47C9-83AE-C4E896F85FF0}"/>
              </a:ext>
            </a:extLst>
          </p:cNvPr>
          <p:cNvSpPr>
            <a:spLocks noGrp="1"/>
          </p:cNvSpPr>
          <p:nvPr/>
        </p:nvSpPr>
        <p:spPr>
          <a:xfrm>
            <a:off x="8667750" y="20097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7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75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R286k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442289-7BC5-4394-8EDB-DD44F8A3A73C}"/>
              </a:ext>
            </a:extLst>
          </p:cNvPr>
          <p:cNvSpPr>
            <a:spLocks noGrp="1"/>
          </p:cNvSpPr>
          <p:nvPr/>
        </p:nvSpPr>
        <p:spPr>
          <a:xfrm>
            <a:off x="8667750" y="25812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Average daily 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430CD-C14E-4CB3-B799-1B9C0477DAC0}"/>
              </a:ext>
            </a:extLst>
          </p:cNvPr>
          <p:cNvSpPr>
            <a:spLocks noGrp="1"/>
          </p:cNvSpPr>
          <p:nvPr/>
        </p:nvSpPr>
        <p:spPr>
          <a:xfrm>
            <a:off x="8667750" y="3048000"/>
            <a:ext cx="2381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E4B92F-D71E-498C-9B30-01A43486FF0E}"/>
              </a:ext>
            </a:extLst>
          </p:cNvPr>
          <p:cNvSpPr>
            <a:spLocks noGrp="1"/>
          </p:cNvSpPr>
          <p:nvPr/>
        </p:nvSpPr>
        <p:spPr>
          <a:xfrm>
            <a:off x="8667750" y="33051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45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345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2.0×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ADC32-82E1-4527-8B62-FD40C3BBA5AB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35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ZA" sz="135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Saturday vs Tuesday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57DD1-898D-4D6C-96AA-2F3CF9F1F399}"/>
              </a:ext>
            </a:extLst>
          </p:cNvPr>
          <p:cNvSpPr>
            <a:spLocks noGrp="1"/>
          </p:cNvSpPr>
          <p:nvPr/>
        </p:nvSpPr>
        <p:spPr>
          <a:xfrm>
            <a:off x="8667750" y="4324350"/>
            <a:ext cx="2381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C00D71-2765-4AD0-980D-07BD010D236A}"/>
              </a:ext>
            </a:extLst>
          </p:cNvPr>
          <p:cNvSpPr>
            <a:spLocks noGrp="1"/>
          </p:cNvSpPr>
          <p:nvPr/>
        </p:nvSpPr>
        <p:spPr>
          <a:xfrm>
            <a:off x="8667750" y="45815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Note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A5CC11-8469-4EFE-8E42-40D051D89708}"/>
              </a:ext>
            </a:extLst>
          </p:cNvPr>
          <p:cNvSpPr>
            <a:spLocks noGrp="1"/>
          </p:cNvSpPr>
          <p:nvPr/>
        </p:nvSpPr>
        <p:spPr>
          <a:xfrm>
            <a:off x="8667750" y="4867275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>
                <a:solidFill>
                  <a:srgbClr val="18242A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262E33"/>
                </a:solidFill>
                <a:latin typeface="Arial"/>
              </a:rPr>
              <a:t>Friday and Saturday are the strongest sales days. Check margin before increasing promotional spend.</a:t>
            </a:r>
          </a:p>
        </p:txBody>
      </p:sp>
    </p:spTree>
    <p:extLst>
      <p:ext uri="{BB962C8B-B14F-4D97-AF65-F5344CB8AC3E}">
        <p14:creationId xmlns:p14="http://schemas.microsoft.com/office/powerpoint/2010/main" val="15940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8">
            <a:extLst>
              <a:ext uri="{FF2B5EF4-FFF2-40B4-BE49-F238E27FC236}">
                <a16:creationId xmlns:a16="http://schemas.microsoft.com/office/drawing/2014/main" id="{17C9D59B-892D-45CB-B3AA-FE8E63CC56DE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0">
                <a:solidFill>
                  <a:srgbClr val="5B6670"/>
                </a:solidFill>
                <a:latin typeface="Arial"/>
              </a:rPr>
              <a:t>Conclusion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E7B79B47-D57F-4D07-B015-01C0A3C73FB4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300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800" b="1">
                <a:solidFill>
                  <a:srgbClr val="262E33"/>
                </a:solidFill>
                <a:latin typeface="Arial"/>
              </a:rPr>
              <a:t>Recommendations and Notes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19261-B8FD-48F5-A761-6E426C1CB0D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9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900" b="0">
                <a:solidFill>
                  <a:srgbClr val="5B6670"/>
                </a:solidFill>
                <a:latin typeface="Arial"/>
              </a:rPr>
              <a:t>Source: Sales Analytics Workbook (1,000 daily records)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739AE-09F6-4FB9-AC43-E75A516DCABE}"/>
              </a:ext>
            </a:extLst>
          </p:cNvPr>
          <p:cNvSpPr>
            <a:spLocks noGrp="1"/>
          </p:cNvSpPr>
          <p:nvPr/>
        </p:nvSpPr>
        <p:spPr>
          <a:xfrm>
            <a:off x="11163300" y="64770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r">
              <a:defRPr sz="900" b="1">
                <a:solidFill>
                  <a:srgbClr val="60707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900" b="0">
                <a:solidFill>
                  <a:srgbClr val="5B6670"/>
                </a:solidFill>
                <a:latin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79422-8CAE-4B92-B111-7EB4B13D840E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40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40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1F4F7-551C-4C87-9D52-4CE7B6796D73}"/>
              </a:ext>
            </a:extLst>
          </p:cNvPr>
          <p:cNvSpPr>
            <a:spLocks noGrp="1"/>
          </p:cNvSpPr>
          <p:nvPr/>
        </p:nvSpPr>
        <p:spPr>
          <a:xfrm>
            <a:off x="1314450" y="17145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02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02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Set a promotion margin floor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CD61E-AA94-43D0-B8B4-2DDD8F6674E1}"/>
              </a:ext>
            </a:extLst>
          </p:cNvPr>
          <p:cNvSpPr>
            <a:spLocks noGrp="1"/>
          </p:cNvSpPr>
          <p:nvPr/>
        </p:nvSpPr>
        <p:spPr>
          <a:xfrm>
            <a:off x="1314450" y="21336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Approve discounts only when forecast contribution remains above a defined threshold.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AE917-9529-442E-86DC-90E46FAEDB0E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5429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1042B-F858-4DEA-B83A-5C86993BA92A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40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40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4DEF0-3CFB-4E77-927F-C1EDFB4BC052}"/>
              </a:ext>
            </a:extLst>
          </p:cNvPr>
          <p:cNvSpPr>
            <a:spLocks noGrp="1"/>
          </p:cNvSpPr>
          <p:nvPr/>
        </p:nvSpPr>
        <p:spPr>
          <a:xfrm>
            <a:off x="1314450" y="31337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2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25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Run controlled price tests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C5CF92-E1C4-4C02-82CB-FA67A75F3CF1}"/>
              </a:ext>
            </a:extLst>
          </p:cNvPr>
          <p:cNvSpPr>
            <a:spLocks noGrp="1"/>
          </p:cNvSpPr>
          <p:nvPr/>
        </p:nvSpPr>
        <p:spPr>
          <a:xfrm>
            <a:off x="1314450" y="3552825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Separate price effects from seasonality and Friday/Saturday demand concentration.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E7DFD-CA8C-425F-BDAB-298135B11665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5429250" cy="19050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660D58-9D52-45E6-B1C1-F311352753E5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40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2400" b="1">
                <a:solidFill>
                  <a:srgbClr val="007F7B"/>
                </a:solidFill>
                <a:latin typeface="Arial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7698C7-4701-49FE-B463-D5D3723863E0}"/>
              </a:ext>
            </a:extLst>
          </p:cNvPr>
          <p:cNvSpPr>
            <a:spLocks noGrp="1"/>
          </p:cNvSpPr>
          <p:nvPr/>
        </p:nvSpPr>
        <p:spPr>
          <a:xfrm>
            <a:off x="1314450" y="45529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250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250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Monitor price, volume and margin together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AE2914-0CBF-4C3F-B2C3-F697965ED040}"/>
              </a:ext>
            </a:extLst>
          </p:cNvPr>
          <p:cNvSpPr>
            <a:spLocks noGrp="1"/>
          </p:cNvSpPr>
          <p:nvPr/>
        </p:nvSpPr>
        <p:spPr>
          <a:xfrm>
            <a:off x="1314450" y="523875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Use weighted realised price and gross profit—not unit lift in isolation—as the scorecard.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ED105A-3C62-4039-A73B-8A9D5B4E1A24}"/>
              </a:ext>
            </a:extLst>
          </p:cNvPr>
          <p:cNvSpPr>
            <a:spLocks noGrp="1"/>
          </p:cNvSpPr>
          <p:nvPr/>
        </p:nvSpPr>
        <p:spPr>
          <a:xfrm>
            <a:off x="6572250" y="1685925"/>
            <a:ext cx="19050" cy="4238625"/>
          </a:xfrm>
          <a:prstGeom prst="rect">
            <a:avLst/>
          </a:prstGeom>
          <a:solidFill>
            <a:srgbClr val="DADFE0"/>
          </a:solidFill>
          <a:ln w="0">
            <a:noFill/>
            <a:prstDash val="solid"/>
          </a:ln>
        </p:spPr>
        <p:txBody>
          <a:bodyPr wrap="square"/>
          <a:lstStyle/>
          <a:p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EF11B-440F-47D1-92AA-E04547AE4F23}"/>
              </a:ext>
            </a:extLst>
          </p:cNvPr>
          <p:cNvSpPr>
            <a:spLocks noGrp="1"/>
          </p:cNvSpPr>
          <p:nvPr/>
        </p:nvSpPr>
        <p:spPr>
          <a:xfrm>
            <a:off x="6953250" y="17240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125" b="1">
                <a:solidFill>
                  <a:srgbClr val="EF6A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1">
                <a:solidFill>
                  <a:srgbClr val="1F6F70"/>
                </a:solidFill>
                <a:latin typeface="Arial"/>
              </a:rPr>
              <a:t>Notes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C9DADC-D6A5-468B-8974-0C0178ADB345}"/>
              </a:ext>
            </a:extLst>
          </p:cNvPr>
          <p:cNvSpPr>
            <a:spLocks noGrp="1"/>
          </p:cNvSpPr>
          <p:nvPr/>
        </p:nvSpPr>
        <p:spPr>
          <a:xfrm>
            <a:off x="6953250" y="21145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27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Coverage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57C962-75D5-48D1-BDCE-8F3F79AF9D34}"/>
              </a:ext>
            </a:extLst>
          </p:cNvPr>
          <p:cNvSpPr>
            <a:spLocks noGrp="1"/>
          </p:cNvSpPr>
          <p:nvPr/>
        </p:nvSpPr>
        <p:spPr>
          <a:xfrm>
            <a:off x="6953250" y="23907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42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1,000 daily rows; 30 Dec 2013–24 Sep 2016. Q3 2016 is partial.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DEE337-1574-4EC6-AD56-AF3A11505B0C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27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Elasticity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E4056A-AE8F-4165-B97E-DAADA1975DD8}"/>
              </a:ext>
            </a:extLst>
          </p:cNvPr>
          <p:cNvSpPr>
            <a:spLocks noGrp="1"/>
          </p:cNvSpPr>
          <p:nvPr/>
        </p:nvSpPr>
        <p:spPr>
          <a:xfrm>
            <a:off x="6953250" y="3419475"/>
            <a:ext cx="4095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42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Workbook-defined promotion windows use 14-day pre/post baselines. Results are observational, not causal.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6D8DE3-0F50-4721-9E1D-95E34CF88EA8}"/>
              </a:ext>
            </a:extLst>
          </p:cNvPr>
          <p:cNvSpPr>
            <a:spLocks noGrp="1"/>
          </p:cNvSpPr>
          <p:nvPr/>
        </p:nvSpPr>
        <p:spPr>
          <a:xfrm>
            <a:off x="6953250" y="43624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27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27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Data quality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8CE630-72FF-4820-870E-9D8C4F101B68}"/>
              </a:ext>
            </a:extLst>
          </p:cNvPr>
          <p:cNvSpPr>
            <a:spLocks noGrp="1"/>
          </p:cNvSpPr>
          <p:nvPr/>
        </p:nvSpPr>
        <p:spPr>
          <a:xfrm>
            <a:off x="6953250" y="4638675"/>
            <a:ext cx="4095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425" b="0">
                <a:solidFill>
                  <a:srgbClr val="607077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607077"/>
                </a:solidFill>
                <a:latin typeface="Arial"/>
                <a:ea typeface="Aptos"/>
                <a:cs typeface="Aptos"/>
              </a:rPr>
              <a:t>The day_type field labels every row “Weekday”; weekly analysis therefore uses day_name directly.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50EEF5-34B8-4F2C-AC4B-331F4478F608}"/>
              </a:ext>
            </a:extLst>
          </p:cNvPr>
          <p:cNvSpPr>
            <a:spLocks noGrp="1"/>
          </p:cNvSpPr>
          <p:nvPr/>
        </p:nvSpPr>
        <p:spPr>
          <a:xfrm>
            <a:off x="6953250" y="56102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>
                <a:solidFill>
                  <a:srgbClr val="007F7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ZA" sz="1100" b="1">
                <a:solidFill>
                  <a:srgbClr val="1F6F70"/>
                </a:solidFill>
                <a:latin typeface="Arial"/>
              </a:rPr>
              <a:t>Next step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CD30EE-10FB-49A4-B470-CDCA3C0FB942}"/>
              </a:ext>
            </a:extLst>
          </p:cNvPr>
          <p:cNvSpPr>
            <a:spLocks noGrp="1"/>
          </p:cNvSpPr>
          <p:nvPr/>
        </p:nvSpPr>
        <p:spPr>
          <a:xfrm>
            <a:off x="8715375" y="557212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425" b="1">
                <a:solidFill>
                  <a:srgbClr val="1824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18242A"/>
                </a:solidFill>
                <a:latin typeface="Arial"/>
                <a:ea typeface="Aptos Display"/>
                <a:cs typeface="Aptos Display"/>
              </a:rPr>
              <a:t>Estimate incremental gross profit by test cell.</a:t>
            </a:r>
          </a:p>
        </p:txBody>
      </p:sp>
    </p:spTree>
    <p:extLst>
      <p:ext uri="{BB962C8B-B14F-4D97-AF65-F5344CB8AC3E}">
        <p14:creationId xmlns:p14="http://schemas.microsoft.com/office/powerpoint/2010/main" val="1398347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262E33"/>
                </a:solidFill>
                <a:latin typeface="Arial"/>
              </a:rPr>
              <a:t>QUESTION &amp;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3480" y="3127248"/>
            <a:ext cx="2240280" cy="381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456432"/>
            <a:ext cx="10515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>
                <a:solidFill>
                  <a:srgbClr val="5B6670"/>
                </a:solidFill>
                <a:latin typeface="Arial"/>
              </a:rPr>
              <a:t>Sales Analysis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F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262E3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27248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1F6F70"/>
                </a:solidFill>
                <a:latin typeface="Arial"/>
              </a:rPr>
              <a:t>HITEKANI MASINGI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5B6670"/>
                </a:solidFill>
                <a:latin typeface="Arial"/>
              </a:rPr>
              <a:t>Sales Analysis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{7144EBD0-24CC-4011-9287-0E74B5E2AC52}0f45c1b8-b519-4737-8f12-a18148944ef7-TFfcaeb239-e0ad-43c4-9739-4084ddd7c62fe496f549_win32</Template>
  <TotalTime>54</TotalTime>
  <Words>616</Words>
  <Application>Microsoft Office PowerPoint</Application>
  <PresentationFormat>Widescreen</PresentationFormat>
  <Paragraphs>152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Hitekani Tredah Masingi</dc:creator>
  <cp:lastModifiedBy>Hitekani Tredah Masingi</cp:lastModifiedBy>
  <cp:revision>1</cp:revision>
  <dcterms:created xsi:type="dcterms:W3CDTF">2026-08-01T12:48:15Z</dcterms:created>
  <dcterms:modified xsi:type="dcterms:W3CDTF">2026-08-01T13:42:51Z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